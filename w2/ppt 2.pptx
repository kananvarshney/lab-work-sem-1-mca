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298" r:id="rId7"/>
    <p:sldId id="280" r:id="rId8"/>
    <p:sldId id="270" r:id="rId9"/>
    <p:sldId id="293" r:id="rId10"/>
    <p:sldId id="294" r:id="rId11"/>
    <p:sldId id="260" r:id="rId12"/>
    <p:sldId id="276" r:id="rId13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96AD563-13A4-453A-ADDC-099335D55F76}">
          <p14:sldIdLst>
            <p14:sldId id="256"/>
            <p14:sldId id="277"/>
            <p14:sldId id="298"/>
            <p14:sldId id="280"/>
            <p14:sldId id="270"/>
            <p14:sldId id="293"/>
            <p14:sldId id="294"/>
            <p14:sldId id="260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67" d="100"/>
          <a:sy n="67" d="100"/>
        </p:scale>
        <p:origin x="858" y="60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80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  <p:transition advClick="0" advTm="2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fld id="{BBDEBFC8-8EC2-4FED-B31F-18AE98342EA2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  <p:transition advClick="0" advTm="2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DA968506-49BF-46B2-BA67-5AC11F8F6FA4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  <p:transition advClick="0" advTm="2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A93F0E21-807B-4C27-B86C-70BCFAB8D223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  <p:transition advClick="0" advTm="2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fld id="{42CB78F4-C520-4DF8-9DE4-ED5B18D402C3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  <p:transition advClick="0" advTm="2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1F671575-0AFA-4C3C-A1F7-1C9D91D9FB0F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  <p:transition advClick="0" advTm="2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  <p:transition advClick="0" advTm="2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fld id="{3F3268D4-F747-440D-9116-EA5633C178F1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  <p:transition advClick="0" advTm="2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2D2D99A3-DC74-4141-A03D-301ED1B302F0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2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934C3CDE-D940-46AE-BFE3-2CEC945E2F41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2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280F4B35-1CF7-4C1D-AB59-834A747ACEB7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  <p:transition advClick="0" advTm="2000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86C5E766-ED9E-4D69-8CBA-A0D6B3D55ABC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  <p:transition advClick="0" advTm="2000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3D7D5D41-0D51-42E5-BD28-174A42CD0E1F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transition advClick="0" advTm="2000">
    <p:push dir="u"/>
  </p:transition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C311E976-328F-460F-B60C-DA3A15A83395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  <p:transition advClick="0" advTm="2000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C44ABAE1-EDDE-46D5-B424-422066B52C79}" type="datetime1">
              <a:rPr lang="en-US" noProof="0" smtClean="0"/>
              <a:t>8/20/2026</a:t>
            </a:fld>
            <a:endParaRPr lang="en-US" noProof="0" dirty="0"/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KANAN VARSHNEY                               GN7375                                  26CAMSAG122</a:t>
            </a:r>
            <a:endParaRPr lang="en-US" noProof="0" dirty="0"/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  <p:transition advClick="0" advTm="2000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BBD8A531-11F5-48FD-9DA5-9E67FA6AD054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2000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219A1A70-5FBF-4416-8971-3437ACFBBFF2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2000">
    <p:push dir="u"/>
  </p:transition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E39BCF3F-1E03-4E8A-8C5E-04DE5B9E3870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2000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BC913B21-8005-44D2-9D96-B3DA154138FC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2000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2EE580B4-E74C-40D4-B31A-C4E80554FE29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transition advClick="0" advTm="2000">
    <p:push dir="u"/>
  </p:transition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35FCFA67-5BAA-4EA3-B8D7-4B83B8996126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  <p:transition advClick="0" advTm="2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E3B89-14DB-4E3D-9B44-9CB158FC159F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701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</p:sldLayoutIdLst>
  <p:transition advClick="0" advTm="2000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researchmethod.net/correlation-analysis/" TargetMode="Externa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8000"/>
            <a:lum/>
          </a:blip>
          <a:srcRect/>
          <a:stretch>
            <a:fillRect l="31000" t="27000" r="38000" b="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2D40028-BAA6-76EE-D9F9-9306EAC9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26" y="142935"/>
            <a:ext cx="9342473" cy="1494479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               </a:t>
            </a:r>
            <a:r>
              <a:rPr lang="en-IN" sz="4400" dirty="0">
                <a:solidFill>
                  <a:schemeClr val="tx2">
                    <a:lumMod val="75000"/>
                  </a:schemeClr>
                </a:solidFill>
                <a:latin typeface="Berlin Sans FB Demi" panose="020E0802020502020306" pitchFamily="34" charset="0"/>
              </a:rPr>
              <a:t>Correlation analysis</a:t>
            </a:r>
            <a:br>
              <a:rPr lang="en-IN" sz="4400" dirty="0">
                <a:solidFill>
                  <a:schemeClr val="tx2">
                    <a:lumMod val="75000"/>
                  </a:schemeClr>
                </a:solidFill>
                <a:latin typeface="Berlin Sans FB Demi" panose="020E0802020502020306" pitchFamily="34" charset="0"/>
              </a:rPr>
            </a:br>
            <a:r>
              <a:rPr lang="en-IN" sz="4400" dirty="0">
                <a:solidFill>
                  <a:schemeClr val="tx2">
                    <a:lumMod val="75000"/>
                  </a:schemeClr>
                </a:solidFill>
                <a:latin typeface="Berlin Sans FB Demi" panose="020E0802020502020306" pitchFamily="34" charset="0"/>
              </a:rPr>
              <a:t>  (simple , partial and multiple</a:t>
            </a:r>
            <a:r>
              <a:rPr lang="en-IN" sz="3600" dirty="0">
                <a:solidFill>
                  <a:schemeClr val="tx2">
                    <a:lumMod val="75000"/>
                  </a:schemeClr>
                </a:solidFill>
                <a:latin typeface="Berlin Sans FB Demi" panose="020E0802020502020306" pitchFamily="34" charset="0"/>
              </a:rPr>
              <a:t>)</a:t>
            </a:r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Berlin Sans FB Demi" panose="020E0802020502020306" pitchFamily="34" charset="0"/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FE2314-20D7-5530-310B-5C80F31359D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9043101" y="3189769"/>
            <a:ext cx="2967653" cy="32847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2C59DE-B759-A7B6-772E-F97344A7335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0" y="-15345"/>
            <a:ext cx="2987749" cy="298774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923D34-4048-EC65-0B48-CABEE58AC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98160-5E07-F53C-AD53-CE73B1CA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DC4B9-EE30-D8B1-45D2-54549C60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B765-9D50-44B5-939E-E9EC0C6FC66B}" type="datetime1">
              <a:rPr lang="en-US" smtClean="0"/>
              <a:t>8/20/2026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  <p:transition advClick="0" advTm="2000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21" y="1"/>
            <a:ext cx="6847367" cy="723014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Berlin Sans FB Demi" panose="020E0802020502020306" pitchFamily="34" charset="0"/>
              </a:rPr>
              <a:t>Correlation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21" y="808075"/>
            <a:ext cx="11834037" cy="5913400"/>
          </a:xfrm>
        </p:spPr>
        <p:txBody>
          <a:bodyPr>
            <a:noAutofit/>
          </a:bodyPr>
          <a:lstStyle/>
          <a:p>
            <a:r>
              <a:rPr lang="en-US" sz="2200" dirty="0"/>
              <a:t>Correlation analysis is a statistical method used to quantify the strength and the direction of the linear relationship between two or more variables.</a:t>
            </a:r>
          </a:p>
          <a:p>
            <a:r>
              <a:rPr lang="en-US" sz="2200" dirty="0"/>
              <a:t>Correlation analysis is used to determine if and how strongly variables are related . It helps in predicting modelling, decision making and hypotheses testing.</a:t>
            </a:r>
          </a:p>
          <a:p>
            <a:r>
              <a:rPr lang="en-IN" sz="2400" b="1" u="sng" dirty="0">
                <a:latin typeface="Berlin Sans FB Demi" panose="020E0802020502020306" pitchFamily="34" charset="0"/>
              </a:rPr>
              <a:t>Simple correlation</a:t>
            </a:r>
          </a:p>
          <a:p>
            <a:r>
              <a:rPr lang="en-IN" sz="2400" dirty="0"/>
              <a:t>Simple correlation is a statistical method used  for determining the strength and direction of the linear relationship between two variables.</a:t>
            </a:r>
            <a:endParaRPr lang="en-IN" sz="2000" dirty="0"/>
          </a:p>
          <a:p>
            <a:r>
              <a:rPr lang="en-IN" sz="2000" dirty="0"/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b="1" dirty="0"/>
              <a:t>Yield of paddy and the use of fertilizers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 student’s class attendance and their test scores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Exercise and weight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Screen Time vs. Academic Performance</a:t>
            </a:r>
            <a:r>
              <a:rPr lang="en-US" sz="2000" dirty="0"/>
              <a:t> </a:t>
            </a:r>
            <a:endParaRPr lang="en-IN" sz="2000" dirty="0"/>
          </a:p>
          <a:p>
            <a:endParaRPr lang="en-US" sz="22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142921" y="6356351"/>
            <a:ext cx="467832" cy="365124"/>
          </a:xfrm>
        </p:spPr>
        <p:txBody>
          <a:bodyPr/>
          <a:lstStyle/>
          <a:p>
            <a:r>
              <a:rPr lang="en-US" sz="1200" dirty="0"/>
              <a:t>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EEC7E-8CD5-27AF-1775-4C9580C8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13086" y="6356350"/>
            <a:ext cx="2482842" cy="365125"/>
          </a:xfrm>
        </p:spPr>
        <p:txBody>
          <a:bodyPr/>
          <a:lstStyle/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0DBEC91-47A0-8522-51B7-C92CEAD3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3463" y="6441410"/>
            <a:ext cx="985157" cy="365125"/>
          </a:xfrm>
        </p:spPr>
        <p:txBody>
          <a:bodyPr/>
          <a:lstStyle/>
          <a:p>
            <a:fld id="{1FC27ABF-82AF-4768-B51F-421D160C0D50}" type="datetime1">
              <a:rPr lang="en-US" smtClean="0"/>
              <a:t>8/20/2026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  <p:transition advClick="0" advTm="2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5DE22-A321-18D2-FAD2-F2DA87679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363" y="390538"/>
            <a:ext cx="11199495" cy="1081076"/>
          </a:xfrm>
        </p:spPr>
        <p:txBody>
          <a:bodyPr/>
          <a:lstStyle/>
          <a:p>
            <a:r>
              <a:rPr lang="en-US" sz="1600" dirty="0"/>
              <a:t>A sample of 6 children was selected, data about their age in weeks and weight in kilograms was recorded as shown in the following table . It is required to find the correlation between age and weight. </a:t>
            </a:r>
            <a:endParaRPr lang="en-IN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2DE94B02-6A09-AF2F-77CE-E22D031B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9780673"/>
                  </p:ext>
                </p:extLst>
              </p:nvPr>
            </p:nvGraphicFramePr>
            <p:xfrm>
              <a:off x="860425" y="1591203"/>
              <a:ext cx="7197726" cy="4209519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199621">
                      <a:extLst>
                        <a:ext uri="{9D8B030D-6E8A-4147-A177-3AD203B41FA5}">
                          <a16:colId xmlns:a16="http://schemas.microsoft.com/office/drawing/2014/main" val="1870796704"/>
                        </a:ext>
                      </a:extLst>
                    </a:gridCol>
                    <a:gridCol w="1199621">
                      <a:extLst>
                        <a:ext uri="{9D8B030D-6E8A-4147-A177-3AD203B41FA5}">
                          <a16:colId xmlns:a16="http://schemas.microsoft.com/office/drawing/2014/main" val="493712800"/>
                        </a:ext>
                      </a:extLst>
                    </a:gridCol>
                    <a:gridCol w="1199621">
                      <a:extLst>
                        <a:ext uri="{9D8B030D-6E8A-4147-A177-3AD203B41FA5}">
                          <a16:colId xmlns:a16="http://schemas.microsoft.com/office/drawing/2014/main" val="2160299382"/>
                        </a:ext>
                      </a:extLst>
                    </a:gridCol>
                    <a:gridCol w="1199621">
                      <a:extLst>
                        <a:ext uri="{9D8B030D-6E8A-4147-A177-3AD203B41FA5}">
                          <a16:colId xmlns:a16="http://schemas.microsoft.com/office/drawing/2014/main" val="4288150298"/>
                        </a:ext>
                      </a:extLst>
                    </a:gridCol>
                    <a:gridCol w="1199621">
                      <a:extLst>
                        <a:ext uri="{9D8B030D-6E8A-4147-A177-3AD203B41FA5}">
                          <a16:colId xmlns:a16="http://schemas.microsoft.com/office/drawing/2014/main" val="1238606449"/>
                        </a:ext>
                      </a:extLst>
                    </a:gridCol>
                    <a:gridCol w="1199621">
                      <a:extLst>
                        <a:ext uri="{9D8B030D-6E8A-4147-A177-3AD203B41FA5}">
                          <a16:colId xmlns:a16="http://schemas.microsoft.com/office/drawing/2014/main" val="2602017300"/>
                        </a:ext>
                      </a:extLst>
                    </a:gridCol>
                  </a:tblGrid>
                  <a:tr h="645921"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S NO.</a:t>
                          </a:r>
                          <a:endParaRPr lang="en-IN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AGE</a:t>
                          </a:r>
                        </a:p>
                        <a:p>
                          <a:r>
                            <a:rPr lang="en-US" dirty="0"/>
                            <a:t>(X)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</a:t>
                          </a:r>
                        </a:p>
                        <a:p>
                          <a:r>
                            <a:rPr lang="en-US" dirty="0"/>
                            <a:t>(Y)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XY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9727101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84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144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5548530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48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6525744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144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4963047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50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9730080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3011714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0397534"/>
                      </a:ext>
                    </a:extLst>
                  </a:tr>
                  <a:tr h="652137"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=41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IN" dirty="0"/>
                            <a:t>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461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IN" dirty="0"/>
                            <a:t>291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∑</m:t>
                                </m:r>
                                <m:sSup>
                                  <m:sSup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742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912945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001816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2DE94B02-6A09-AF2F-77CE-E22D031B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9780673"/>
                  </p:ext>
                </p:extLst>
              </p:nvPr>
            </p:nvGraphicFramePr>
            <p:xfrm>
              <a:off x="860425" y="1591203"/>
              <a:ext cx="7197726" cy="4209519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199621">
                      <a:extLst>
                        <a:ext uri="{9D8B030D-6E8A-4147-A177-3AD203B41FA5}">
                          <a16:colId xmlns:a16="http://schemas.microsoft.com/office/drawing/2014/main" val="1870796704"/>
                        </a:ext>
                      </a:extLst>
                    </a:gridCol>
                    <a:gridCol w="1199621">
                      <a:extLst>
                        <a:ext uri="{9D8B030D-6E8A-4147-A177-3AD203B41FA5}">
                          <a16:colId xmlns:a16="http://schemas.microsoft.com/office/drawing/2014/main" val="493712800"/>
                        </a:ext>
                      </a:extLst>
                    </a:gridCol>
                    <a:gridCol w="1199621">
                      <a:extLst>
                        <a:ext uri="{9D8B030D-6E8A-4147-A177-3AD203B41FA5}">
                          <a16:colId xmlns:a16="http://schemas.microsoft.com/office/drawing/2014/main" val="2160299382"/>
                        </a:ext>
                      </a:extLst>
                    </a:gridCol>
                    <a:gridCol w="1199621">
                      <a:extLst>
                        <a:ext uri="{9D8B030D-6E8A-4147-A177-3AD203B41FA5}">
                          <a16:colId xmlns:a16="http://schemas.microsoft.com/office/drawing/2014/main" val="4288150298"/>
                        </a:ext>
                      </a:extLst>
                    </a:gridCol>
                    <a:gridCol w="1199621">
                      <a:extLst>
                        <a:ext uri="{9D8B030D-6E8A-4147-A177-3AD203B41FA5}">
                          <a16:colId xmlns:a16="http://schemas.microsoft.com/office/drawing/2014/main" val="1238606449"/>
                        </a:ext>
                      </a:extLst>
                    </a:gridCol>
                    <a:gridCol w="1199621">
                      <a:extLst>
                        <a:ext uri="{9D8B030D-6E8A-4147-A177-3AD203B41FA5}">
                          <a16:colId xmlns:a16="http://schemas.microsoft.com/office/drawing/2014/main" val="2602017300"/>
                        </a:ext>
                      </a:extLst>
                    </a:gridCol>
                  </a:tblGrid>
                  <a:tr h="645921"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S NO.</a:t>
                          </a:r>
                          <a:endParaRPr lang="en-IN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AGE</a:t>
                          </a:r>
                        </a:p>
                        <a:p>
                          <a:r>
                            <a:rPr lang="en-US" dirty="0"/>
                            <a:t>(X)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</a:t>
                          </a:r>
                        </a:p>
                        <a:p>
                          <a:r>
                            <a:rPr lang="en-US" dirty="0"/>
                            <a:t>(Y)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XY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4717" r="-102538" b="-55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4717" r="-2538" b="-55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9727101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84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144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5548530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48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6525744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144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4963047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50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9730080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3011714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117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169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0397534"/>
                      </a:ext>
                    </a:extLst>
                  </a:tr>
                  <a:tr h="652137"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08" t="-486916" r="-402030" b="-65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08" t="-486916" r="-302030" b="-65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2041" t="-486916" r="-203571" b="-65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486916" r="-102538" b="-65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486916" r="-2538" b="-65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12945"/>
                      </a:ext>
                    </a:extLst>
                  </a:tr>
                  <a:tr h="415923"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00181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F68CC13-C44F-559B-5BCA-85047913E992}"/>
              </a:ext>
            </a:extLst>
          </p:cNvPr>
          <p:cNvSpPr txBox="1"/>
          <p:nvPr/>
        </p:nvSpPr>
        <p:spPr>
          <a:xfrm>
            <a:off x="8488363" y="4277253"/>
            <a:ext cx="2843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r=0.76</a:t>
            </a:r>
          </a:p>
          <a:p>
            <a:r>
              <a:rPr lang="en-US" dirty="0"/>
              <a:t>That means strong positive correlation between Age and Weight.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924327"/>
      </p:ext>
    </p:extLst>
  </p:cSld>
  <p:clrMapOvr>
    <a:masterClrMapping/>
  </p:clrMapOvr>
  <p:transition advClick="0" advTm="2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68AB552E-7C42-A103-B70B-941EB747F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363" y="136525"/>
            <a:ext cx="7729870" cy="1148315"/>
          </a:xfrm>
        </p:spPr>
        <p:txBody>
          <a:bodyPr>
            <a:normAutofit/>
          </a:bodyPr>
          <a:lstStyle/>
          <a:p>
            <a:r>
              <a:rPr lang="en-IN" sz="3600" u="sng" dirty="0"/>
              <a:t> </a:t>
            </a:r>
            <a:r>
              <a:rPr lang="en-IN" sz="3200" u="sng" dirty="0">
                <a:latin typeface="Berlin Sans FB Demi" panose="020E0802020502020306" pitchFamily="34" charset="0"/>
              </a:rPr>
              <a:t>Partial correlation</a:t>
            </a:r>
            <a:endParaRPr lang="en-IN" sz="3600" u="sng" dirty="0">
              <a:latin typeface="Berlin Sans FB Demi" panose="020E08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E9C0C8B1-2DBC-40B1-BBA7-7B3D396478A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3525" y="1284840"/>
                <a:ext cx="11047227" cy="5094695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Partial correlation analysis involves studying the linear relationship between two variables after excluding the effect of one or more independent factors.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For Example :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Suppose that there are three variables  sales(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) ,price(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) and production(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) and one wants to find the relationship between two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after controlling the variable production(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).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Researchers want to know how study hours(X) related to exam scores(Y) when both study hours and exam scores are influenced by IQ(Z)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 To study the relationship between exercise frequency and heart problems when age is known to affect both.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E9C0C8B1-2DBC-40B1-BBA7-7B3D39647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3525" y="1284840"/>
                <a:ext cx="11047227" cy="5094695"/>
              </a:xfrm>
              <a:blipFill>
                <a:blip r:embed="rId2"/>
                <a:stretch>
                  <a:fillRect l="-827" t="-9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495FC-7E0A-4342-A40D-3B65DCA7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CAE798-7A09-F39F-C35E-857BDCF7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38F437-D8A5-EDBB-9795-500FD539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34E68-483E-4AD5-AECC-FA3FD3287E34}" type="datetime1">
              <a:rPr lang="en-US" smtClean="0"/>
              <a:t>8/20/2026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396711"/>
      </p:ext>
    </p:extLst>
  </p:cSld>
  <p:clrMapOvr>
    <a:masterClrMapping/>
  </p:clrMapOvr>
  <p:transition advClick="0" advTm="200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16">
                <a:extLst>
                  <a:ext uri="{FF2B5EF4-FFF2-40B4-BE49-F238E27FC236}">
                    <a16:creationId xmlns:a16="http://schemas.microsoft.com/office/drawing/2014/main" id="{24158E79-DA49-4521-BEC6-A7BA93C41F4C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202018" y="136526"/>
                <a:ext cx="11802139" cy="632807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   </a:t>
                </a:r>
                <a:r>
                  <a:rPr lang="en-US" sz="3200" u="sng" dirty="0">
                    <a:latin typeface="Berlin Sans FB Demi" panose="020E0802020502020306" pitchFamily="34" charset="0"/>
                  </a:rPr>
                  <a:t>Coefficient of partial correlation</a:t>
                </a:r>
                <a:endParaRPr lang="en-US" sz="2400" u="sng" dirty="0"/>
              </a:p>
              <a:p>
                <a:r>
                  <a:rPr lang="en-US" sz="2400" dirty="0"/>
                  <a:t> </a:t>
                </a:r>
                <a:r>
                  <a:rPr lang="en-US" sz="2200" dirty="0"/>
                  <a:t>Partial correlation coefficient after controlling the effect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200" dirty="0"/>
                  <a:t> is :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12:3</m:t>
                          </m:r>
                        </m:sub>
                      </m:sSub>
                      <m:r>
                        <a:rPr lang="en-I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√(1−</m:t>
                          </m:r>
                          <m:sSubSup>
                            <m:sSubSup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13</m:t>
                              </m:r>
                            </m:sub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)(1−</m:t>
                          </m:r>
                          <m:sSubSup>
                            <m:sSubSup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23</m:t>
                              </m:r>
                            </m:sub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  <a:p>
                <a:endParaRPr lang="en-US" sz="2600" dirty="0"/>
              </a:p>
              <a:p>
                <a:r>
                  <a:rPr lang="en-US" sz="2200" dirty="0"/>
                  <a:t>Similarly, partial correlation coefficient after controlling the effect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 is :</a:t>
                </a:r>
              </a:p>
              <a:p>
                <a:r>
                  <a:rPr lang="en-US" sz="2400" dirty="0"/>
                  <a:t>   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√(1−</m:t>
                        </m:r>
                        <m:sSubSup>
                          <m:sSubSupPr>
                            <m:ctrlP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)(1−</m:t>
                        </m:r>
                        <m:sSubSup>
                          <m:sSubSupPr>
                            <m:ctrlP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</m:t>
                            </m:r>
                          </m:sub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sz="2200" dirty="0">
                  <a:ea typeface="Cambria Math" panose="02040503050406030204" pitchFamily="18" charset="0"/>
                </a:endParaRPr>
              </a:p>
              <a:p>
                <a:endParaRPr lang="en-US" sz="3000" dirty="0"/>
              </a:p>
              <a:p>
                <a:r>
                  <a:rPr lang="en-US" sz="2200" dirty="0"/>
                  <a:t> partial correlation coefficient after controlling the effect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 is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23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:1</m:t>
                          </m:r>
                        </m:sub>
                      </m:sSub>
                      <m:r>
                        <a:rPr lang="en-I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√(1−</m:t>
                          </m:r>
                          <m:sSubSup>
                            <m:sSubSup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)(1−</m:t>
                          </m:r>
                          <m:sSubSup>
                            <m:sSubSup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13</m:t>
                              </m:r>
                            </m:sub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200" dirty="0">
                  <a:ea typeface="Cambria Math" panose="02040503050406030204" pitchFamily="18" charset="0"/>
                </a:endParaRPr>
              </a:p>
              <a:p>
                <a:r>
                  <a:rPr lang="en-US" sz="2400" dirty="0"/>
                  <a:t>  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12=</m:t>
                        </m:r>
                      </m:sub>
                    </m:sSub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IN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2=</m:t>
                        </m:r>
                      </m:sub>
                    </m:sSub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7" name="Text Placeholder 16">
                <a:extLst>
                  <a:ext uri="{FF2B5EF4-FFF2-40B4-BE49-F238E27FC236}">
                    <a16:creationId xmlns:a16="http://schemas.microsoft.com/office/drawing/2014/main" id="{24158E79-DA49-4521-BEC6-A7BA93C41F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202018" y="136526"/>
                <a:ext cx="11802139" cy="6328070"/>
              </a:xfrm>
              <a:blipFill>
                <a:blip r:embed="rId2"/>
                <a:stretch>
                  <a:fillRect l="-671" t="-13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48AEE8-BFB5-4E63-DD2E-EB2397A7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ED9BA-4A20-8C5A-77DF-740740C29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5FD2B-8866-4B70-80EE-EEC01D36A894}" type="datetime1">
              <a:rPr lang="en-US" smtClean="0"/>
              <a:t>8/20/2026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  <p:transition advClick="0" advTm="200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2B2A9964-3684-8DE4-A535-AE838ECDB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6811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Berlin Sans FB Demi" panose="020E0802020502020306" pitchFamily="34" charset="0"/>
              </a:rPr>
              <a:t>                </a:t>
            </a:r>
            <a:r>
              <a:rPr lang="en-IN" sz="3200" u="sng" dirty="0">
                <a:latin typeface="Berlin Sans FB Demi" panose="020E0802020502020306" pitchFamily="34" charset="0"/>
              </a:rPr>
              <a:t>multiple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17">
                <a:extLst>
                  <a:ext uri="{FF2B5EF4-FFF2-40B4-BE49-F238E27FC236}">
                    <a16:creationId xmlns:a16="http://schemas.microsoft.com/office/drawing/2014/main" id="{1CA1AFF3-20E8-1941-4FC2-25E2660759F7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748749" y="1361937"/>
                <a:ext cx="10605051" cy="5357840"/>
              </a:xfrm>
            </p:spPr>
            <p:txBody>
              <a:bodyPr/>
              <a:lstStyle/>
              <a:p>
                <a:r>
                  <a:rPr lang="en-IN" sz="2400" dirty="0"/>
                  <a:t>Multiple correlation analysis is a measure of how well a given variable can be predicted using a linear function of a set of other variables.</a:t>
                </a:r>
              </a:p>
              <a:p>
                <a:r>
                  <a:rPr lang="en-IN" sz="2400" dirty="0"/>
                  <a:t>Multiple correlation analysis is used in studying the joint effects of two or more variables on a single variable.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 </a:t>
                </a:r>
                <a:r>
                  <a:rPr lang="en-IN" sz="2400" b="1" dirty="0"/>
                  <a:t>Examples 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400" dirty="0"/>
                  <a:t>The yield of crop per hectare(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400" dirty="0"/>
                  <a:t>) depends on quality of seeds(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400" dirty="0"/>
                  <a:t>), fertilizers(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400" dirty="0"/>
                  <a:t>), weather(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400" dirty="0"/>
                  <a:t>), irrigation(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IN" sz="2400" dirty="0"/>
                  <a:t>).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400" dirty="0"/>
                  <a:t>The Air Quality Index(AQI) depends on temperature, traffic volume and industrial emissions.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For Heart Disease Risk Assessment, the </a:t>
                </a:r>
                <a:r>
                  <a:rPr lang="en-US" sz="2400" b="1" dirty="0"/>
                  <a:t> </a:t>
                </a:r>
                <a:r>
                  <a:rPr lang="en-US" sz="2400" dirty="0"/>
                  <a:t>Dependent variable is  Likelihood of heart disease and Independent variables are Cholesterol level, blood pressure, BMI, and smoking status.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IN" sz="2400" dirty="0"/>
              </a:p>
            </p:txBody>
          </p:sp>
        </mc:Choice>
        <mc:Fallback xmlns="">
          <p:sp>
            <p:nvSpPr>
              <p:cNvPr id="18" name="Text Placeholder 17">
                <a:extLst>
                  <a:ext uri="{FF2B5EF4-FFF2-40B4-BE49-F238E27FC236}">
                    <a16:creationId xmlns:a16="http://schemas.microsoft.com/office/drawing/2014/main" id="{1CA1AFF3-20E8-1941-4FC2-25E2660759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748749" y="1361937"/>
                <a:ext cx="10605051" cy="5357840"/>
              </a:xfrm>
              <a:blipFill>
                <a:blip r:embed="rId2"/>
                <a:stretch>
                  <a:fillRect l="-920" t="-1593" r="-9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671ED3-7CBF-8270-44D3-A205E61F9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BFAFC-7D5D-4DC7-3723-B2E9F74D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9B9D3-5DB5-570A-0827-3181CE1F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C0E87-2A08-45BD-B78E-079C482BE3C4}" type="datetime1">
              <a:rPr lang="en-US" smtClean="0"/>
              <a:t>8/20/2026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  <p:transition advClick="0" advTm="2000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9ECD5-0EAD-48D0-B30B-16305BC1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Content Placeholder 105">
                <a:extLst>
                  <a:ext uri="{FF2B5EF4-FFF2-40B4-BE49-F238E27FC236}">
                    <a16:creationId xmlns:a16="http://schemas.microsoft.com/office/drawing/2014/main" id="{68173667-A37B-AE92-FA36-21002F246E3F}"/>
                  </a:ext>
                </a:extLst>
              </p:cNvPr>
              <p:cNvSpPr>
                <a:spLocks noGrp="1"/>
              </p:cNvSpPr>
              <p:nvPr>
                <p:ph sz="quarter" idx="16"/>
              </p:nvPr>
            </p:nvSpPr>
            <p:spPr>
              <a:xfrm>
                <a:off x="1" y="1089660"/>
                <a:ext cx="12004158" cy="55025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sz="2400" dirty="0"/>
                  <a:t>Consider a tri-variant distribution in which each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IN" sz="2400" dirty="0"/>
                  <a:t>has n observation. The multiple correlation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on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2  </m:t>
                        </m:r>
                      </m:sub>
                    </m:sSub>
                  </m:oMath>
                </a14:m>
                <a:r>
                  <a:rPr lang="en-IN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.23 </m:t>
                        </m:r>
                      </m:sub>
                    </m:sSub>
                  </m:oMath>
                </a14:m>
                <a:r>
                  <a:rPr lang="en-IN" sz="2400" dirty="0"/>
                  <a:t>is given as-</a:t>
                </a:r>
              </a:p>
              <a:p>
                <a:pPr marL="0" indent="0">
                  <a:buNone/>
                </a:pPr>
                <a:r>
                  <a:rPr lang="en-IN" dirty="0"/>
                  <a:t>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1.23 </m:t>
                        </m:r>
                      </m:sub>
                    </m:sSub>
                  </m:oMath>
                </a14:m>
                <a:r>
                  <a:rPr lang="en-I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sz="2400" dirty="0"/>
                  <a:t>This is called simple correlation and joint effect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400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sz="2400" dirty="0"/>
                  <a:t>Similarly, multiple correlation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400" dirty="0"/>
                  <a:t> 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400" dirty="0"/>
                  <a:t> is-</a:t>
                </a:r>
              </a:p>
              <a:p>
                <a:pPr marL="0" indent="0">
                  <a:buNone/>
                </a:pPr>
                <a:r>
                  <a:rPr lang="en-IN" dirty="0"/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3 </m:t>
                        </m:r>
                      </m:sub>
                    </m:sSub>
                  </m:oMath>
                </a14:m>
                <a:r>
                  <a:rPr lang="en-I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i="1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sz="2400" dirty="0"/>
                  <a:t>And multiple correlation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400" dirty="0"/>
                  <a:t> 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</m:sub>
                    </m:sSub>
                  </m:oMath>
                </a14:m>
                <a:r>
                  <a:rPr lang="en-IN" sz="2400" dirty="0"/>
                  <a:t>is-</a:t>
                </a:r>
              </a:p>
              <a:p>
                <a:pPr marL="0" indent="0">
                  <a:buNone/>
                </a:pPr>
                <a:r>
                  <a:rPr lang="en-IN" dirty="0"/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2 </m:t>
                        </m:r>
                      </m:sub>
                    </m:sSub>
                  </m:oMath>
                </a14:m>
                <a:r>
                  <a:rPr lang="en-I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i="1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sz="2200" dirty="0"/>
              </a:p>
              <a:p>
                <a:pPr marL="0" indent="0">
                  <a:buNone/>
                </a:pPr>
                <a:r>
                  <a:rPr lang="en-IN" sz="2200" dirty="0"/>
                  <a:t>Where</a:t>
                </a:r>
                <a:r>
                  <a:rPr lang="en-IN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  <m:r>
                          <a:rPr lang="en-I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sub>
                    </m:sSub>
                    <m:sSub>
                      <m:sSubPr>
                        <m:ctrlPr>
                          <a:rPr lang="en-I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IN" sz="2600" dirty="0"/>
                  <a:t> ; i </a:t>
                </a:r>
                <a:r>
                  <a:rPr lang="en-I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≠ j</a:t>
                </a:r>
                <a:endParaRPr lang="en-IN" sz="260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106" name="Content Placeholder 105">
                <a:extLst>
                  <a:ext uri="{FF2B5EF4-FFF2-40B4-BE49-F238E27FC236}">
                    <a16:creationId xmlns:a16="http://schemas.microsoft.com/office/drawing/2014/main" id="{68173667-A37B-AE92-FA36-21002F246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6"/>
              </p:nvPr>
            </p:nvSpPr>
            <p:spPr>
              <a:xfrm>
                <a:off x="1" y="1089660"/>
                <a:ext cx="12004158" cy="5502526"/>
              </a:xfrm>
              <a:blipFill>
                <a:blip r:embed="rId2"/>
                <a:stretch>
                  <a:fillRect l="-762" t="-2217" b="-23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 Placeholder 31">
            <a:extLst>
              <a:ext uri="{FF2B5EF4-FFF2-40B4-BE49-F238E27FC236}">
                <a16:creationId xmlns:a16="http://schemas.microsoft.com/office/drawing/2014/main" id="{EFC30FAC-E9E5-427E-B670-7978BE575652}"/>
              </a:ext>
            </a:extLst>
          </p:cNvPr>
          <p:cNvSpPr txBox="1">
            <a:spLocks/>
          </p:cNvSpPr>
          <p:nvPr/>
        </p:nvSpPr>
        <p:spPr>
          <a:xfrm>
            <a:off x="838198" y="180753"/>
            <a:ext cx="7625317" cy="8431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54" name="Text Placeholder 31">
            <a:extLst>
              <a:ext uri="{FF2B5EF4-FFF2-40B4-BE49-F238E27FC236}">
                <a16:creationId xmlns:a16="http://schemas.microsoft.com/office/drawing/2014/main" id="{E0CD2DAB-9E42-4D11-A98D-56ECD20DBC7E}"/>
              </a:ext>
            </a:extLst>
          </p:cNvPr>
          <p:cNvSpPr txBox="1">
            <a:spLocks/>
          </p:cNvSpPr>
          <p:nvPr/>
        </p:nvSpPr>
        <p:spPr>
          <a:xfrm>
            <a:off x="754912" y="180754"/>
            <a:ext cx="6645347" cy="6379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u="sng" dirty="0">
                <a:latin typeface="Berlin Sans FB Demi" panose="020E0802020502020306" pitchFamily="34" charset="0"/>
              </a:rPr>
              <a:t>Coefficient of multiple correlation</a:t>
            </a:r>
          </a:p>
        </p:txBody>
      </p:sp>
      <p:sp>
        <p:nvSpPr>
          <p:cNvPr id="107" name="Text Placeholder 31">
            <a:extLst>
              <a:ext uri="{FF2B5EF4-FFF2-40B4-BE49-F238E27FC236}">
                <a16:creationId xmlns:a16="http://schemas.microsoft.com/office/drawing/2014/main" id="{7C5F4630-959D-43D6-A6F0-5D5F3A4117C1}"/>
              </a:ext>
            </a:extLst>
          </p:cNvPr>
          <p:cNvSpPr txBox="1">
            <a:spLocks/>
          </p:cNvSpPr>
          <p:nvPr/>
        </p:nvSpPr>
        <p:spPr>
          <a:xfrm>
            <a:off x="7581698" y="5206365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1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C0804E-0598-1F9A-C3E4-1AA4CFEF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6C4E1-7F7A-E0DC-9EC9-AA3B89376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34C9F-C261-4C84-8762-1F77EDA194AD}" type="datetime1">
              <a:rPr lang="en-US" smtClean="0"/>
              <a:t>8/20/2026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972071"/>
      </p:ext>
    </p:extLst>
  </p:cSld>
  <p:clrMapOvr>
    <a:masterClrMapping/>
  </p:clrMapOvr>
  <p:transition advClick="0" advTm="200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67" y="365125"/>
            <a:ext cx="10907233" cy="900149"/>
          </a:xfrm>
        </p:spPr>
        <p:txBody>
          <a:bodyPr anchor="ctr"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u="sng" dirty="0">
                <a:latin typeface="Berlin Sans FB Demi" panose="020E0802020502020306" pitchFamily="34" charset="0"/>
              </a:rPr>
              <a:t>Properties of multiple correlation coefficient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97536-70D1-46C0-A2A2-51A6BB21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FD82676-21EC-2B93-C5B0-6EC7105420EB}"/>
                  </a:ext>
                </a:extLst>
              </p:cNvPr>
              <p:cNvSpPr>
                <a:spLocks noGrp="1"/>
              </p:cNvSpPr>
              <p:nvPr>
                <p:ph sz="quarter" idx="16"/>
              </p:nvPr>
            </p:nvSpPr>
            <p:spPr>
              <a:xfrm>
                <a:off x="265815" y="1265275"/>
                <a:ext cx="11087984" cy="474976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sz="2400" dirty="0"/>
                  <a:t>0 </a:t>
                </a:r>
                <a:r>
                  <a:rPr lang="en-IN" sz="2400" dirty="0">
                    <a:cs typeface="Times New Roman" panose="02020603050405020304" pitchFamily="18" charset="0"/>
                  </a:rPr>
                  <a:t>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1.23</m:t>
                        </m:r>
                      </m:sub>
                    </m:sSub>
                  </m:oMath>
                </a14:m>
                <a:r>
                  <a:rPr lang="en-IN" sz="2400" dirty="0">
                    <a:cs typeface="Times New Roman" panose="02020603050405020304" pitchFamily="18" charset="0"/>
                  </a:rPr>
                  <a:t> ≤ 1</a:t>
                </a:r>
              </a:p>
              <a:p>
                <a:endParaRPr lang="en-IN" sz="2400" dirty="0"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1.23</m:t>
                        </m:r>
                      </m:sub>
                    </m:sSub>
                  </m:oMath>
                </a14:m>
                <a:r>
                  <a:rPr lang="en-IN" sz="2400" dirty="0">
                    <a:cs typeface="Times New Roman" panose="02020603050405020304" pitchFamily="18" charset="0"/>
                  </a:rPr>
                  <a:t> = 0 , then all total and partial correlation are zero . 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400" dirty="0">
                    <a:cs typeface="Times New Roman" panose="02020603050405020304" pitchFamily="18" charset="0"/>
                  </a:rPr>
                  <a:t> is totally unrelated(uncorrelated) with all other variables.</a:t>
                </a:r>
              </a:p>
              <a:p>
                <a:endParaRPr lang="en-IN" sz="2400" dirty="0"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1.23</m:t>
                        </m:r>
                      </m:sub>
                    </m:sSub>
                  </m:oMath>
                </a14:m>
                <a:r>
                  <a:rPr lang="en-IN" sz="2400" dirty="0">
                    <a:cs typeface="Times New Roman" panose="02020603050405020304" pitchFamily="18" charset="0"/>
                  </a:rPr>
                  <a:t> = 1 , then association is perfect and regression residuals are zero.</a:t>
                </a:r>
              </a:p>
              <a:p>
                <a:endParaRPr lang="en-IN" sz="2400" dirty="0"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1.23</m:t>
                        </m:r>
                      </m:sub>
                    </m:sSub>
                  </m:oMath>
                </a14:m>
                <a:r>
                  <a:rPr lang="en-IN" sz="2400" dirty="0">
                    <a:cs typeface="Times New Roman" panose="02020603050405020304" pitchFamily="18" charset="0"/>
                  </a:rPr>
                  <a:t>  is not less than any total correlation coefficient  then, </a:t>
                </a:r>
              </a:p>
              <a:p>
                <a:pPr marL="0" indent="0">
                  <a:buNone/>
                </a:pPr>
                <a:r>
                  <a:rPr lang="en-IN" sz="2400" dirty="0"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1.23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cs typeface="Times New Roman" panose="02020603050405020304" pitchFamily="18" charset="0"/>
                  </a:rPr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2 </m:t>
                        </m:r>
                      </m:sub>
                    </m:sSub>
                  </m:oMath>
                </a14:m>
                <a:r>
                  <a:rPr lang="en-IN" sz="24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sz="24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400" dirty="0"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endParaRPr lang="en-IN" sz="24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b="1" dirty="0">
                    <a:ea typeface="Noto Music" panose="020F0502020204030204" pitchFamily="2" charset="0"/>
                    <a:cs typeface="Times New Roman" panose="02020603050405020304" pitchFamily="18" charset="0"/>
                  </a:rPr>
                  <a:t>REF :</a:t>
                </a:r>
                <a:r>
                  <a:rPr lang="en-IN" sz="1800" b="1" dirty="0">
                    <a:ea typeface="Noto Music" panose="020F0502020204030204" pitchFamily="2" charset="0"/>
                    <a:cs typeface="Times New Roman" panose="02020603050405020304" pitchFamily="18" charset="0"/>
                    <a:hlinkClick r:id="rId2"/>
                  </a:rPr>
                  <a:t>https://researchmethod.net/correlation-analysis/</a:t>
                </a:r>
                <a:endParaRPr lang="en-IN" sz="1800" b="1" dirty="0">
                  <a:ea typeface="Noto Music" panose="020F0502020204030204" pitchFamily="2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cs typeface="Times New Roman" panose="02020603050405020304" pitchFamily="18" charset="0"/>
                </a:endParaRPr>
              </a:p>
              <a:p>
                <a:endParaRPr lang="en-IN" sz="24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400" dirty="0">
                  <a:cs typeface="Times New Roman" panose="02020603050405020304" pitchFamily="18" charset="0"/>
                </a:endParaRPr>
              </a:p>
              <a:p>
                <a:endParaRPr lang="en-IN" sz="24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FD82676-21EC-2B93-C5B0-6EC7105420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6"/>
              </p:nvPr>
            </p:nvSpPr>
            <p:spPr>
              <a:xfrm>
                <a:off x="265815" y="1265275"/>
                <a:ext cx="11087984" cy="4749764"/>
              </a:xfrm>
              <a:blipFill>
                <a:blip r:embed="rId3"/>
                <a:stretch>
                  <a:fillRect l="-770" t="-25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FC4BB1-80B1-697C-0887-780C6C41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KANAN VARSHNEY                               GN7375                                  26CAMSAG122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F9D5AE-6B35-64A3-C462-088618703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49E99-5573-449A-B4B0-35A114490CD9}" type="datetime1">
              <a:rPr lang="en-US" smtClean="0"/>
              <a:t>8/20/2026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  <p:transition advClick="0" advTm="2000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sz="4800" dirty="0"/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1" y="6177516"/>
            <a:ext cx="4874078" cy="543959"/>
          </a:xfrm>
        </p:spPr>
        <p:txBody>
          <a:bodyPr/>
          <a:lstStyle/>
          <a:p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KANAN VARSHNEY                               GN7375                                  26CAMSAG122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D35AC9-F056-4936-2B94-E2192ADF5F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38237" y="6356349"/>
            <a:ext cx="1774371" cy="365125"/>
          </a:xfrm>
        </p:spPr>
        <p:txBody>
          <a:bodyPr/>
          <a:lstStyle/>
          <a:p>
            <a:fld id="{D918C479-2D9A-4218-8F9D-E74B39221B2A}" type="datetime1">
              <a:rPr lang="en-US" smtClean="0"/>
              <a:t>8/20/2026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  <p:transition advClick="0" advTm="2000">
    <p:push dir="u"/>
  </p:transition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71af3243-3dd4-4a8d-8c0d-dd76da1f02a5"/>
    <ds:schemaRef ds:uri="http://purl.org/dc/dcmitype/"/>
    <ds:schemaRef ds:uri="230e9df3-be65-4c73-a93b-d1236ebd677e"/>
    <ds:schemaRef ds:uri="16c05727-aa75-4e4a-9b5f-8a80a1165891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1091</TotalTime>
  <Words>771</Words>
  <Application>Microsoft Office PowerPoint</Application>
  <PresentationFormat>Widescreen</PresentationFormat>
  <Paragraphs>144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 Black</vt:lpstr>
      <vt:lpstr>Berlin Sans FB Demi</vt:lpstr>
      <vt:lpstr>Calibri</vt:lpstr>
      <vt:lpstr>Cambria Math</vt:lpstr>
      <vt:lpstr>Tenorite</vt:lpstr>
      <vt:lpstr>Times New Roman</vt:lpstr>
      <vt:lpstr>Wingdings</vt:lpstr>
      <vt:lpstr>Monoline</vt:lpstr>
      <vt:lpstr>               Correlation analysis   (simple , partial and multiple) </vt:lpstr>
      <vt:lpstr>Correlation analysis</vt:lpstr>
      <vt:lpstr>A sample of 6 children was selected, data about their age in weeks and weight in kilograms was recorded as shown in the following table . It is required to find the correlation between age and weight. </vt:lpstr>
      <vt:lpstr> Partial correlation</vt:lpstr>
      <vt:lpstr>PowerPoint Presentation</vt:lpstr>
      <vt:lpstr>                multiple correlation</vt:lpstr>
      <vt:lpstr>PowerPoint Presentation</vt:lpstr>
      <vt:lpstr>Properties of multiple correlation coefficient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Correlation analysis   (simple , partial and multiple) </dc:title>
  <dc:creator>KANAN VARSHNEY</dc:creator>
  <cp:lastModifiedBy>CSD</cp:lastModifiedBy>
  <cp:revision>5</cp:revision>
  <cp:lastPrinted>2025-09-17T15:06:56Z</cp:lastPrinted>
  <dcterms:created xsi:type="dcterms:W3CDTF">2025-09-12T11:50:41Z</dcterms:created>
  <dcterms:modified xsi:type="dcterms:W3CDTF">2026-08-20T09:31:58Z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